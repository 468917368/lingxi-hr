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0_tit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20624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500" b="1" noProof="1">
                <a:solidFill>
                  <a:srgbClr val="3F6DF5"/>
                </a:solidFill>
                <a:latin typeface="PingFang SC" panose="020B0400000000000000" charset="-122"/>
                <a:ea typeface="PingFang SC" panose="020B0400000000000000" charset="-122"/>
              </a:rPr>
              <a:t>01 · 团队介绍</a:t>
            </a:r>
            <a:endParaRPr lang="zh-CN" altLang="en-US" sz="1500" b="1" noProof="1">
              <a:solidFill>
                <a:srgbClr val="3F6DF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3400" b="1" noProof="1">
                <a:solidFill>
                  <a:srgbClr val="151B2B"/>
                </a:solidFill>
                <a:latin typeface="PingFang SC" panose="020B0400000000000000" charset="-122"/>
                <a:ea typeface="PingFang SC" panose="020B0400000000000000" charset="-122"/>
              </a:rPr>
              <a:t>五位成员，一个目标</a:t>
            </a:r>
            <a:endParaRPr lang="zh-CN" altLang="en-US" sz="3400" b="1" noProof="1">
              <a:solidFill>
                <a:srgbClr val="151B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53619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600" b="0" noProof="1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</a:rPr>
              <a:t>每位成员均承担前端、后端与 AI Agent 能力建设</a:t>
            </a:r>
            <a:endParaRPr lang="zh-CN" altLang="en-US" sz="1600" b="0" noProof="1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21665" y="1434973"/>
            <a:ext cx="457200" cy="45720"/>
          </a:xfrm>
          <a:prstGeom prst="rect">
            <a:avLst/>
          </a:prstGeom>
          <a:solidFill>
            <a:srgbClr val="3F6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" y="1874519"/>
            <a:ext cx="2057400" cy="4069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77824" y="2130551"/>
            <a:ext cx="603504" cy="603504"/>
          </a:xfrm>
          <a:prstGeom prst="roundRect">
            <a:avLst>
              <a:gd name="adj" fmla="val 30000"/>
            </a:avLst>
          </a:prstGeom>
          <a:solidFill>
            <a:srgbClr val="3F6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203703"/>
            <a:ext cx="603504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2400" b="1" noProof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刘</a:t>
            </a:r>
            <a:endParaRPr lang="zh-CN" altLang="en-US" sz="2400" b="1" noProof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2862071"/>
            <a:ext cx="1655064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2200" b="1" noProof="1">
                <a:solidFill>
                  <a:srgbClr val="151B2B"/>
                </a:solidFill>
                <a:latin typeface="PingFang SC" panose="020B0400000000000000" charset="-122"/>
                <a:ea typeface="PingFang SC" panose="020B0400000000000000" charset="-122"/>
              </a:rPr>
              <a:t>刘豪</a:t>
            </a:r>
            <a:endParaRPr lang="zh-CN" altLang="en-US" sz="2200" b="1" noProof="1">
              <a:solidFill>
                <a:srgbClr val="151B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3291839"/>
            <a:ext cx="1655064" cy="320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1200" b="1" noProof="1">
                <a:solidFill>
                  <a:srgbClr val="3F6DF5"/>
                </a:solidFill>
                <a:latin typeface="PingFang SC" panose="020B0400000000000000" charset="-122"/>
                <a:ea typeface="PingFang SC" panose="020B0400000000000000" charset="-122"/>
              </a:rPr>
              <a:t>前端 · 后端 · Agent</a:t>
            </a:r>
            <a:endParaRPr lang="zh-CN" altLang="en-US" sz="1200" b="1" noProof="1">
              <a:solidFill>
                <a:srgbClr val="3F6DF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" y="3749038"/>
            <a:ext cx="1655064" cy="19659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200" noProof="1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</a:rPr>
              <a:t>C端核心页面 · 用户服务 · Job Agent</a:t>
            </a:r>
            <a:endParaRPr lang="zh-CN" altLang="en-US" sz="1200" noProof="1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862072" y="1874519"/>
            <a:ext cx="2057400" cy="4069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118104" y="2130551"/>
            <a:ext cx="603504" cy="603504"/>
          </a:xfrm>
          <a:prstGeom prst="roundRect">
            <a:avLst>
              <a:gd name="adj" fmla="val 30000"/>
            </a:avLst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18104" y="2203703"/>
            <a:ext cx="603504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2400" b="1" noProof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邹</a:t>
            </a:r>
            <a:endParaRPr lang="zh-CN" altLang="en-US" sz="2400" b="1" noProof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63240" y="2862071"/>
            <a:ext cx="1655064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2200" b="1" noProof="1">
                <a:solidFill>
                  <a:srgbClr val="151B2B"/>
                </a:solidFill>
                <a:latin typeface="PingFang SC" panose="020B0400000000000000" charset="-122"/>
                <a:ea typeface="PingFang SC" panose="020B0400000000000000" charset="-122"/>
              </a:rPr>
              <a:t>邹锡</a:t>
            </a:r>
            <a:endParaRPr lang="zh-CN" altLang="en-US" sz="2200" b="1" noProof="1">
              <a:solidFill>
                <a:srgbClr val="151B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063240" y="3291839"/>
            <a:ext cx="1655064" cy="320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1200" b="1" noProof="1">
                <a:solidFill>
                  <a:srgbClr val="0EA5A4"/>
                </a:solidFill>
                <a:latin typeface="PingFang SC" panose="020B0400000000000000" charset="-122"/>
                <a:ea typeface="PingFang SC" panose="020B0400000000000000" charset="-122"/>
              </a:rPr>
              <a:t>前端 · 后端 · Agent</a:t>
            </a:r>
            <a:endParaRPr lang="zh-CN" altLang="en-US" sz="1200" b="1" noProof="1">
              <a:solidFill>
                <a:srgbClr val="0EA5A4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063240" y="3749038"/>
            <a:ext cx="1655064" cy="19659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200" noProof="1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</a:rPr>
              <a:t>岗位探索与管理 · 岗位服务 · Interview Agent</a:t>
            </a:r>
            <a:endParaRPr lang="zh-CN" altLang="en-US" sz="1200" noProof="1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102352" y="1874519"/>
            <a:ext cx="2057400" cy="4069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358384" y="2130551"/>
            <a:ext cx="603504" cy="603504"/>
          </a:xfrm>
          <a:prstGeom prst="roundRect">
            <a:avLst>
              <a:gd name="adj" fmla="val 30000"/>
            </a:avLst>
          </a:prstGeom>
          <a:solidFill>
            <a:srgbClr val="E07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58384" y="2203703"/>
            <a:ext cx="603504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2400" b="1" noProof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李</a:t>
            </a:r>
            <a:endParaRPr lang="zh-CN" altLang="en-US" sz="2400" b="1" noProof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303520" y="2862071"/>
            <a:ext cx="1655064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2200" b="1" noProof="1">
                <a:solidFill>
                  <a:srgbClr val="151B2B"/>
                </a:solidFill>
                <a:latin typeface="PingFang SC" panose="020B0400000000000000" charset="-122"/>
                <a:ea typeface="PingFang SC" panose="020B0400000000000000" charset="-122"/>
              </a:rPr>
              <a:t>李俊雄</a:t>
            </a:r>
            <a:endParaRPr lang="zh-CN" altLang="en-US" sz="2200" b="1" noProof="1">
              <a:solidFill>
                <a:srgbClr val="151B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303520" y="3291839"/>
            <a:ext cx="1655064" cy="320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1200" b="1" noProof="1">
                <a:solidFill>
                  <a:srgbClr val="E0733D"/>
                </a:solidFill>
                <a:latin typeface="PingFang SC" panose="020B0400000000000000" charset="-122"/>
                <a:ea typeface="PingFang SC" panose="020B0400000000000000" charset="-122"/>
              </a:rPr>
              <a:t>前端 · 后端 · Agent</a:t>
            </a:r>
            <a:endParaRPr lang="zh-CN" altLang="en-US" sz="1200" b="1" noProof="1">
              <a:solidFill>
                <a:srgbClr val="E0733D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303520" y="3749038"/>
            <a:ext cx="1655064" cy="19659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200" noProof="1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</a:rPr>
              <a:t>简历与投递 · 简历服务 · Resume Agent</a:t>
            </a:r>
            <a:endParaRPr lang="zh-CN" altLang="en-US" sz="1200" noProof="1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342632" y="1874519"/>
            <a:ext cx="2057400" cy="4069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598664" y="2130551"/>
            <a:ext cx="603504" cy="603504"/>
          </a:xfrm>
          <a:prstGeom prst="roundRect">
            <a:avLst>
              <a:gd name="adj" fmla="val 30000"/>
            </a:avLst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98664" y="2203703"/>
            <a:ext cx="603504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2400" b="1" noProof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袁</a:t>
            </a:r>
            <a:endParaRPr lang="zh-CN" altLang="en-US" sz="2400" b="1" noProof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543800" y="2862071"/>
            <a:ext cx="1655064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2200" b="1" noProof="1">
                <a:solidFill>
                  <a:srgbClr val="151B2B"/>
                </a:solidFill>
                <a:latin typeface="PingFang SC" panose="020B0400000000000000" charset="-122"/>
                <a:ea typeface="PingFang SC" panose="020B0400000000000000" charset="-122"/>
              </a:rPr>
              <a:t>袁权</a:t>
            </a:r>
            <a:endParaRPr lang="zh-CN" altLang="en-US" sz="2200" b="1" noProof="1">
              <a:solidFill>
                <a:srgbClr val="151B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543800" y="3291839"/>
            <a:ext cx="1655064" cy="320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1200" b="1" noProof="1">
                <a:solidFill>
                  <a:srgbClr val="A855F7"/>
                </a:solidFill>
                <a:latin typeface="PingFang SC" panose="020B0400000000000000" charset="-122"/>
                <a:ea typeface="PingFang SC" panose="020B0400000000000000" charset="-122"/>
              </a:rPr>
              <a:t>前端 · 后端 · Agent</a:t>
            </a:r>
            <a:endParaRPr lang="zh-CN" altLang="en-US" sz="1200" b="1" noProof="1">
              <a:solidFill>
                <a:srgbClr val="A855F7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543800" y="3749038"/>
            <a:ext cx="1655064" cy="19659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200" noProof="1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</a:rPr>
              <a:t>HR 工作台与模拟面试 · HR 服务 · Mock Interview Agent</a:t>
            </a:r>
            <a:endParaRPr lang="zh-CN" altLang="en-US" sz="1200" noProof="1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9582912" y="1874519"/>
            <a:ext cx="2057400" cy="4069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838944" y="2130551"/>
            <a:ext cx="603504" cy="603504"/>
          </a:xfrm>
          <a:prstGeom prst="roundRect">
            <a:avLst>
              <a:gd name="adj" fmla="val 30000"/>
            </a:avLst>
          </a:prstGeom>
          <a:solidFill>
            <a:srgbClr val="D33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38944" y="2203703"/>
            <a:ext cx="603504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2400" b="1" noProof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孙</a:t>
            </a:r>
            <a:endParaRPr lang="zh-CN" altLang="en-US" sz="2400" b="1" noProof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784080" y="2862071"/>
            <a:ext cx="1655064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2200" b="1" noProof="1">
                <a:solidFill>
                  <a:srgbClr val="151B2B"/>
                </a:solidFill>
                <a:latin typeface="PingFang SC" panose="020B0400000000000000" charset="-122"/>
                <a:ea typeface="PingFang SC" panose="020B0400000000000000" charset="-122"/>
              </a:rPr>
              <a:t>孙魏</a:t>
            </a:r>
            <a:endParaRPr lang="zh-CN" altLang="en-US" sz="2200" b="1" noProof="1">
              <a:solidFill>
                <a:srgbClr val="151B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784080" y="3291839"/>
            <a:ext cx="1655064" cy="320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1200" b="1" noProof="1">
                <a:solidFill>
                  <a:srgbClr val="D33C5C"/>
                </a:solidFill>
                <a:latin typeface="PingFang SC" panose="020B0400000000000000" charset="-122"/>
                <a:ea typeface="PingFang SC" panose="020B0400000000000000" charset="-122"/>
              </a:rPr>
              <a:t>前端 · 后端 · Agent</a:t>
            </a:r>
            <a:endParaRPr lang="zh-CN" altLang="en-US" sz="1200" b="1" noProof="1">
              <a:solidFill>
                <a:srgbClr val="D33C5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784080" y="3749038"/>
            <a:ext cx="1655064" cy="19659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200" noProof="1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</a:rPr>
              <a:t>管理后台 · 管理服务 · Agent 联调与质量测试</a:t>
            </a:r>
            <a:endParaRPr lang="zh-CN" altLang="en-US" sz="1200" noProof="1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2_pai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3_posi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4_arc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5_tec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20624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500" b="1" noProof="1">
                <a:solidFill>
                  <a:srgbClr val="FF6B6B"/>
                </a:solidFill>
                <a:latin typeface="PingFang SC" panose="020B0400000000000000" charset="-122"/>
                <a:ea typeface="PingFang SC" panose="020B0400000000000000" charset="-122"/>
              </a:rPr>
              <a:t>C端 · 求职者</a:t>
            </a:r>
            <a:endParaRPr lang="zh-CN" altLang="en-US" sz="1500" b="1" noProof="1">
              <a:solidFill>
                <a:srgbClr val="FF6B6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3400" b="1" noProof="1">
                <a:solidFill>
                  <a:srgbClr val="151B2B"/>
                </a:solidFill>
                <a:latin typeface="PingFang SC" panose="020B0400000000000000" charset="-122"/>
                <a:ea typeface="PingFang SC" panose="020B0400000000000000" charset="-122"/>
              </a:rPr>
              <a:t>AI 求职助手</a:t>
            </a:r>
            <a:endParaRPr lang="zh-CN" altLang="en-US" sz="3400" b="1" noProof="1">
              <a:solidFill>
                <a:srgbClr val="151B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572768"/>
            <a:ext cx="457200" cy="457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0" y="438912"/>
            <a:ext cx="1417320" cy="475488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493776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1300" b="1" noProof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求职者</a:t>
            </a:r>
            <a:endParaRPr lang="zh-CN" altLang="en-US" sz="1300" b="1" noProof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3383280" cy="38404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lang="zh-CN" altLang="en-US" sz="1400" b="1" noProof="1">
                <a:solidFill>
                  <a:srgbClr val="FF6B6B"/>
                </a:solidFill>
                <a:latin typeface="PingFang SC" panose="020B0400000000000000" charset="-122"/>
                <a:ea typeface="PingFang SC" panose="020B0400000000000000" charset="-122"/>
              </a:rPr>
              <a:t>●  </a:t>
            </a:r>
            <a:r>
              <a:rPr lang="zh-CN" altLang="en-US" sz="1700" noProof="1">
                <a:solidFill>
                  <a:srgbClr val="151B2B"/>
                </a:solidFill>
                <a:latin typeface="PingFang SC" panose="020B0400000000000000" charset="-122"/>
                <a:ea typeface="PingFang SC" panose="020B0400000000000000" charset="-122"/>
              </a:rPr>
              <a:t>自然语言对话，实时理解求职意图</a:t>
            </a:r>
            <a:endParaRPr lang="zh-CN" altLang="en-US" sz="1700" noProof="1">
              <a:solidFill>
                <a:srgbClr val="151B2B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lang="zh-CN" altLang="en-US" sz="1400" b="1" noProof="1">
                <a:solidFill>
                  <a:srgbClr val="FF6B6B"/>
                </a:solidFill>
                <a:latin typeface="PingFang SC" panose="020B0400000000000000" charset="-122"/>
                <a:ea typeface="PingFang SC" panose="020B0400000000000000" charset="-122"/>
              </a:rPr>
              <a:t>●  </a:t>
            </a:r>
            <a:r>
              <a:rPr lang="zh-CN" altLang="en-US" sz="1700" noProof="1">
                <a:solidFill>
                  <a:srgbClr val="151B2B"/>
                </a:solidFill>
                <a:latin typeface="PingFang SC" panose="020B0400000000000000" charset="-122"/>
                <a:ea typeface="PingFang SC" panose="020B0400000000000000" charset="-122"/>
              </a:rPr>
              <a:t>基于 DeepSeek 智能推荐匹配岗位</a:t>
            </a:r>
            <a:endParaRPr lang="zh-CN" altLang="en-US" sz="1700" noProof="1">
              <a:solidFill>
                <a:srgbClr val="151B2B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lang="zh-CN" altLang="en-US" sz="1400" b="1" noProof="1">
                <a:solidFill>
                  <a:srgbClr val="FF6B6B"/>
                </a:solidFill>
                <a:latin typeface="PingFang SC" panose="020B0400000000000000" charset="-122"/>
                <a:ea typeface="PingFang SC" panose="020B0400000000000000" charset="-122"/>
              </a:rPr>
              <a:t>●  </a:t>
            </a:r>
            <a:r>
              <a:rPr lang="zh-CN" altLang="en-US" sz="1700" noProof="1">
                <a:solidFill>
                  <a:srgbClr val="151B2B"/>
                </a:solidFill>
                <a:latin typeface="PingFang SC" panose="020B0400000000000000" charset="-122"/>
                <a:ea typeface="PingFang SC" panose="020B0400000000000000" charset="-122"/>
              </a:rPr>
              <a:t>像拥有一位专属职业顾问</a:t>
            </a:r>
            <a:endParaRPr lang="zh-CN" altLang="en-US" sz="1700" noProof="1">
              <a:solidFill>
                <a:srgbClr val="151B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370832" y="1691640"/>
            <a:ext cx="7315200" cy="4114800"/>
          </a:xfrm>
          <a:prstGeom prst="rect">
            <a:avLst/>
          </a:prstGeom>
          <a:solidFill>
            <a:srgbClr val="E8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andidate_ai_assista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1600200"/>
            <a:ext cx="7315200" cy="411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97680" y="582472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1100" b="0" noProof="1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</a:rPr>
              <a:t>系统真实页面截图</a:t>
            </a:r>
            <a:endParaRPr lang="zh-CN" altLang="en-US" sz="1100" b="0" noProof="1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20624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500" b="1" noProof="1">
                <a:solidFill>
                  <a:srgbClr val="FF6B6B"/>
                </a:solidFill>
                <a:latin typeface="PingFang SC" panose="020B0400000000000000" charset="-122"/>
                <a:ea typeface="PingFang SC" panose="020B0400000000000000" charset="-122"/>
              </a:rPr>
              <a:t>C端 · 求职者</a:t>
            </a:r>
            <a:endParaRPr lang="zh-CN" altLang="en-US" sz="1500" b="1" noProof="1">
              <a:solidFill>
                <a:srgbClr val="FF6B6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3400" b="1" noProof="1">
                <a:solidFill>
                  <a:srgbClr val="151B2B"/>
                </a:solidFill>
                <a:latin typeface="PingFang SC" panose="020B0400000000000000" charset="-122"/>
                <a:ea typeface="PingFang SC" panose="020B0400000000000000" charset="-122"/>
              </a:rPr>
              <a:t>简历管理</a:t>
            </a:r>
            <a:endParaRPr lang="zh-CN" altLang="en-US" sz="3400" b="1" noProof="1">
              <a:solidFill>
                <a:srgbClr val="151B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572768"/>
            <a:ext cx="457200" cy="457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0" y="438912"/>
            <a:ext cx="1417320" cy="475488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493776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1300" b="1" noProof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求职者</a:t>
            </a:r>
            <a:endParaRPr lang="zh-CN" altLang="en-US" sz="1300" b="1" noProof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3383280" cy="38404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lang="zh-CN" altLang="en-US" sz="1400" b="1" noProof="1">
                <a:solidFill>
                  <a:srgbClr val="FF6B6B"/>
                </a:solidFill>
                <a:latin typeface="PingFang SC" panose="020B0400000000000000" charset="-122"/>
                <a:ea typeface="PingFang SC" panose="020B0400000000000000" charset="-122"/>
              </a:rPr>
              <a:t>●  </a:t>
            </a:r>
            <a:r>
              <a:rPr lang="zh-CN" altLang="en-US" sz="1700" noProof="1">
                <a:solidFill>
                  <a:srgbClr val="151B2B"/>
                </a:solidFill>
                <a:latin typeface="PingFang SC" panose="020B0400000000000000" charset="-122"/>
                <a:ea typeface="PingFang SC" panose="020B0400000000000000" charset="-122"/>
              </a:rPr>
              <a:t>上传 PDF / Word，AI 自动解析</a:t>
            </a:r>
            <a:endParaRPr lang="zh-CN" altLang="en-US" sz="1700" noProof="1">
              <a:solidFill>
                <a:srgbClr val="151B2B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lang="zh-CN" altLang="en-US" sz="1400" b="1" noProof="1">
                <a:solidFill>
                  <a:srgbClr val="FF6B6B"/>
                </a:solidFill>
                <a:latin typeface="PingFang SC" panose="020B0400000000000000" charset="-122"/>
                <a:ea typeface="PingFang SC" panose="020B0400000000000000" charset="-122"/>
              </a:rPr>
              <a:t>●  </a:t>
            </a:r>
            <a:r>
              <a:rPr lang="zh-CN" altLang="en-US" sz="1700" noProof="1">
                <a:solidFill>
                  <a:srgbClr val="151B2B"/>
                </a:solidFill>
                <a:latin typeface="PingFang SC" panose="020B0400000000000000" charset="-122"/>
                <a:ea typeface="PingFang SC" panose="020B0400000000000000" charset="-122"/>
              </a:rPr>
              <a:t>生成诊断报告与优化建议</a:t>
            </a:r>
            <a:endParaRPr lang="zh-CN" altLang="en-US" sz="1700" noProof="1">
              <a:solidFill>
                <a:srgbClr val="151B2B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lang="zh-CN" altLang="en-US" sz="1400" b="1" noProof="1">
                <a:solidFill>
                  <a:srgbClr val="FF6B6B"/>
                </a:solidFill>
                <a:latin typeface="PingFang SC" panose="020B0400000000000000" charset="-122"/>
                <a:ea typeface="PingFang SC" panose="020B0400000000000000" charset="-122"/>
              </a:rPr>
              <a:t>●  </a:t>
            </a:r>
            <a:r>
              <a:rPr lang="zh-CN" altLang="en-US" sz="1700" noProof="1">
                <a:solidFill>
                  <a:srgbClr val="151B2B"/>
                </a:solidFill>
                <a:latin typeface="PingFang SC" panose="020B0400000000000000" charset="-122"/>
                <a:ea typeface="PingFang SC" panose="020B0400000000000000" charset="-122"/>
              </a:rPr>
              <a:t>多份简历统一管理</a:t>
            </a:r>
            <a:endParaRPr lang="zh-CN" altLang="en-US" sz="1700" noProof="1">
              <a:solidFill>
                <a:srgbClr val="151B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370832" y="1691640"/>
            <a:ext cx="7315200" cy="4114800"/>
          </a:xfrm>
          <a:prstGeom prst="rect">
            <a:avLst/>
          </a:prstGeom>
          <a:solidFill>
            <a:srgbClr val="E8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andidate_resume_uplo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1600200"/>
            <a:ext cx="7315200" cy="411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97680" y="582472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1100" b="0" noProof="1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</a:rPr>
              <a:t>系统真实页面截图</a:t>
            </a:r>
            <a:endParaRPr lang="zh-CN" altLang="en-US" sz="1100" b="0" noProof="1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20624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500" b="1" noProof="1">
                <a:solidFill>
                  <a:srgbClr val="FF6B6B"/>
                </a:solidFill>
                <a:latin typeface="PingFang SC" panose="020B0400000000000000" charset="-122"/>
                <a:ea typeface="PingFang SC" panose="020B0400000000000000" charset="-122"/>
              </a:rPr>
              <a:t>C端 · 求职者</a:t>
            </a:r>
            <a:endParaRPr lang="zh-CN" altLang="en-US" sz="1500" b="1" noProof="1">
              <a:solidFill>
                <a:srgbClr val="FF6B6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3400" b="1" noProof="1">
                <a:solidFill>
                  <a:srgbClr val="151B2B"/>
                </a:solidFill>
                <a:latin typeface="PingFang SC" panose="020B0400000000000000" charset="-122"/>
                <a:ea typeface="PingFang SC" panose="020B0400000000000000" charset="-122"/>
              </a:rPr>
              <a:t>岗位探索</a:t>
            </a:r>
            <a:endParaRPr lang="zh-CN" altLang="en-US" sz="3400" b="1" noProof="1">
              <a:solidFill>
                <a:srgbClr val="151B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572768"/>
            <a:ext cx="457200" cy="457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0" y="438912"/>
            <a:ext cx="1417320" cy="475488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493776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1300" b="1" noProof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求职者</a:t>
            </a:r>
            <a:endParaRPr lang="zh-CN" altLang="en-US" sz="1300" b="1" noProof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3383280" cy="38404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lang="zh-CN" altLang="en-US" sz="1400" b="1" noProof="1">
                <a:solidFill>
                  <a:srgbClr val="FF6B6B"/>
                </a:solidFill>
                <a:latin typeface="PingFang SC" panose="020B0400000000000000" charset="-122"/>
                <a:ea typeface="PingFang SC" panose="020B0400000000000000" charset="-122"/>
              </a:rPr>
              <a:t>●  </a:t>
            </a:r>
            <a:r>
              <a:rPr lang="zh-CN" altLang="en-US" sz="1700" noProof="1">
                <a:solidFill>
                  <a:srgbClr val="151B2B"/>
                </a:solidFill>
                <a:latin typeface="PingFang SC" panose="020B0400000000000000" charset="-122"/>
                <a:ea typeface="PingFang SC" panose="020B0400000000000000" charset="-122"/>
              </a:rPr>
              <a:t>按关键词、地点、薪资筛选</a:t>
            </a:r>
            <a:endParaRPr lang="zh-CN" altLang="en-US" sz="1700" noProof="1">
              <a:solidFill>
                <a:srgbClr val="151B2B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lang="zh-CN" altLang="en-US" sz="1400" b="1" noProof="1">
                <a:solidFill>
                  <a:srgbClr val="FF6B6B"/>
                </a:solidFill>
                <a:latin typeface="PingFang SC" panose="020B0400000000000000" charset="-122"/>
                <a:ea typeface="PingFang SC" panose="020B0400000000000000" charset="-122"/>
              </a:rPr>
              <a:t>●  </a:t>
            </a:r>
            <a:r>
              <a:rPr lang="zh-CN" altLang="en-US" sz="1700" noProof="1">
                <a:solidFill>
                  <a:srgbClr val="151B2B"/>
                </a:solidFill>
                <a:latin typeface="PingFang SC" panose="020B0400000000000000" charset="-122"/>
                <a:ea typeface="PingFang SC" panose="020B0400000000000000" charset="-122"/>
              </a:rPr>
              <a:t>岗位详情与能力匹配评分</a:t>
            </a:r>
            <a:endParaRPr lang="zh-CN" altLang="en-US" sz="1700" noProof="1">
              <a:solidFill>
                <a:srgbClr val="151B2B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lang="zh-CN" altLang="en-US" sz="1400" b="1" noProof="1">
                <a:solidFill>
                  <a:srgbClr val="FF6B6B"/>
                </a:solidFill>
                <a:latin typeface="PingFang SC" panose="020B0400000000000000" charset="-122"/>
                <a:ea typeface="PingFang SC" panose="020B0400000000000000" charset="-122"/>
              </a:rPr>
              <a:t>●  </a:t>
            </a:r>
            <a:r>
              <a:rPr lang="zh-CN" altLang="en-US" sz="1700" noProof="1">
                <a:solidFill>
                  <a:srgbClr val="151B2B"/>
                </a:solidFill>
                <a:latin typeface="PingFang SC" panose="020B0400000000000000" charset="-122"/>
                <a:ea typeface="PingFang SC" panose="020B0400000000000000" charset="-122"/>
              </a:rPr>
              <a:t>根据画像个性化排序</a:t>
            </a:r>
            <a:endParaRPr lang="zh-CN" altLang="en-US" sz="1700" noProof="1">
              <a:solidFill>
                <a:srgbClr val="151B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370832" y="1691640"/>
            <a:ext cx="7315200" cy="4114800"/>
          </a:xfrm>
          <a:prstGeom prst="rect">
            <a:avLst/>
          </a:prstGeom>
          <a:solidFill>
            <a:srgbClr val="E8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andidate_job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1600200"/>
            <a:ext cx="7315200" cy="411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97680" y="582472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1100" b="0" noProof="1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</a:rPr>
              <a:t>系统真实页面截图</a:t>
            </a:r>
            <a:endParaRPr lang="zh-CN" altLang="en-US" sz="1100" b="0" noProof="1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20624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500" b="1" noProof="1">
                <a:solidFill>
                  <a:srgbClr val="FF6B6B"/>
                </a:solidFill>
                <a:latin typeface="PingFang SC" panose="020B0400000000000000" charset="-122"/>
                <a:ea typeface="PingFang SC" panose="020B0400000000000000" charset="-122"/>
              </a:rPr>
              <a:t>C端 · 求职者</a:t>
            </a:r>
            <a:endParaRPr lang="zh-CN" altLang="en-US" sz="1500" b="1" noProof="1">
              <a:solidFill>
                <a:srgbClr val="FF6B6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3400" b="1" noProof="1">
                <a:solidFill>
                  <a:srgbClr val="151B2B"/>
                </a:solidFill>
                <a:latin typeface="PingFang SC" panose="020B0400000000000000" charset="-122"/>
                <a:ea typeface="PingFang SC" panose="020B0400000000000000" charset="-122"/>
              </a:rPr>
              <a:t>投递追踪</a:t>
            </a:r>
            <a:endParaRPr lang="zh-CN" altLang="en-US" sz="3400" b="1" noProof="1">
              <a:solidFill>
                <a:srgbClr val="151B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572768"/>
            <a:ext cx="457200" cy="457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0" y="438912"/>
            <a:ext cx="1417320" cy="475488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493776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1300" b="1" noProof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求职者</a:t>
            </a:r>
            <a:endParaRPr lang="zh-CN" altLang="en-US" sz="1300" b="1" noProof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3383280" cy="38404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lang="zh-CN" altLang="en-US" sz="1400" b="1" noProof="1">
                <a:solidFill>
                  <a:srgbClr val="FF6B6B"/>
                </a:solidFill>
                <a:latin typeface="PingFang SC" panose="020B0400000000000000" charset="-122"/>
                <a:ea typeface="PingFang SC" panose="020B0400000000000000" charset="-122"/>
              </a:rPr>
              <a:t>●  </a:t>
            </a:r>
            <a:r>
              <a:rPr lang="zh-CN" altLang="en-US" sz="1700" noProof="1">
                <a:solidFill>
                  <a:srgbClr val="151B2B"/>
                </a:solidFill>
                <a:latin typeface="PingFang SC" panose="020B0400000000000000" charset="-122"/>
                <a:ea typeface="PingFang SC" panose="020B0400000000000000" charset="-122"/>
              </a:rPr>
              <a:t>已投递、面试中、已录用全流程透明</a:t>
            </a:r>
            <a:endParaRPr lang="zh-CN" altLang="en-US" sz="1700" noProof="1">
              <a:solidFill>
                <a:srgbClr val="151B2B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lang="zh-CN" altLang="en-US" sz="1400" b="1" noProof="1">
                <a:solidFill>
                  <a:srgbClr val="FF6B6B"/>
                </a:solidFill>
                <a:latin typeface="PingFang SC" panose="020B0400000000000000" charset="-122"/>
                <a:ea typeface="PingFang SC" panose="020B0400000000000000" charset="-122"/>
              </a:rPr>
              <a:t>●  </a:t>
            </a:r>
            <a:r>
              <a:rPr lang="zh-CN" altLang="en-US" sz="1700" noProof="1">
                <a:solidFill>
                  <a:srgbClr val="151B2B"/>
                </a:solidFill>
                <a:latin typeface="PingFang SC" panose="020B0400000000000000" charset="-122"/>
                <a:ea typeface="PingFang SC" panose="020B0400000000000000" charset="-122"/>
              </a:rPr>
              <a:t>状态变化实时同步</a:t>
            </a:r>
            <a:endParaRPr lang="zh-CN" altLang="en-US" sz="1700" noProof="1">
              <a:solidFill>
                <a:srgbClr val="151B2B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lang="zh-CN" altLang="en-US" sz="1400" b="1" noProof="1">
                <a:solidFill>
                  <a:srgbClr val="FF6B6B"/>
                </a:solidFill>
                <a:latin typeface="PingFang SC" panose="020B0400000000000000" charset="-122"/>
                <a:ea typeface="PingFang SC" panose="020B0400000000000000" charset="-122"/>
              </a:rPr>
              <a:t>●  </a:t>
            </a:r>
            <a:r>
              <a:rPr lang="zh-CN" altLang="en-US" sz="1700" noProof="1">
                <a:solidFill>
                  <a:srgbClr val="151B2B"/>
                </a:solidFill>
                <a:latin typeface="PingFang SC" panose="020B0400000000000000" charset="-122"/>
                <a:ea typeface="PingFang SC" panose="020B0400000000000000" charset="-122"/>
              </a:rPr>
              <a:t>落选反馈帮助持续优化</a:t>
            </a:r>
            <a:endParaRPr lang="zh-CN" altLang="en-US" sz="1700" noProof="1">
              <a:solidFill>
                <a:srgbClr val="151B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370832" y="1691640"/>
            <a:ext cx="7315200" cy="4114800"/>
          </a:xfrm>
          <a:prstGeom prst="rect">
            <a:avLst/>
          </a:prstGeom>
          <a:solidFill>
            <a:srgbClr val="E8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andidate_applica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1600200"/>
            <a:ext cx="7315200" cy="411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97680" y="582472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1100" b="0" noProof="1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</a:rPr>
              <a:t>系统真实页面截图</a:t>
            </a:r>
            <a:endParaRPr lang="zh-CN" altLang="en-US" sz="1100" b="0" noProof="1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20624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500" b="1" noProof="1">
                <a:solidFill>
                  <a:srgbClr val="FF6B6B"/>
                </a:solidFill>
                <a:latin typeface="PingFang SC" panose="020B0400000000000000" charset="-122"/>
                <a:ea typeface="PingFang SC" panose="020B0400000000000000" charset="-122"/>
              </a:rPr>
              <a:t>C端 · 求职者</a:t>
            </a:r>
            <a:endParaRPr lang="zh-CN" altLang="en-US" sz="1500" b="1" noProof="1">
              <a:solidFill>
                <a:srgbClr val="FF6B6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3400" b="1" noProof="1">
                <a:solidFill>
                  <a:srgbClr val="151B2B"/>
                </a:solidFill>
                <a:latin typeface="PingFang SC" panose="020B0400000000000000" charset="-122"/>
                <a:ea typeface="PingFang SC" panose="020B0400000000000000" charset="-122"/>
              </a:rPr>
              <a:t>模拟面试</a:t>
            </a:r>
            <a:endParaRPr lang="zh-CN" altLang="en-US" sz="3400" b="1" noProof="1">
              <a:solidFill>
                <a:srgbClr val="151B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572768"/>
            <a:ext cx="457200" cy="457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0" y="438912"/>
            <a:ext cx="1417320" cy="475488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493776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1300" b="1" noProof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求职者</a:t>
            </a:r>
            <a:endParaRPr lang="zh-CN" altLang="en-US" sz="1300" b="1" noProof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3383280" cy="38404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lang="zh-CN" altLang="en-US" sz="1400" b="1" noProof="1">
                <a:solidFill>
                  <a:srgbClr val="FF6B6B"/>
                </a:solidFill>
                <a:latin typeface="PingFang SC" panose="020B0400000000000000" charset="-122"/>
                <a:ea typeface="PingFang SC" panose="020B0400000000000000" charset="-122"/>
              </a:rPr>
              <a:t>●  </a:t>
            </a:r>
            <a:r>
              <a:rPr lang="zh-CN" altLang="en-US" sz="1700" noProof="1">
                <a:solidFill>
                  <a:srgbClr val="151B2B"/>
                </a:solidFill>
                <a:latin typeface="PingFang SC" panose="020B0400000000000000" charset="-122"/>
                <a:ea typeface="PingFang SC" panose="020B0400000000000000" charset="-122"/>
              </a:rPr>
              <a:t>选择题目数量开始练习</a:t>
            </a:r>
            <a:endParaRPr lang="zh-CN" altLang="en-US" sz="1700" noProof="1">
              <a:solidFill>
                <a:srgbClr val="151B2B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lang="zh-CN" altLang="en-US" sz="1400" b="1" noProof="1">
                <a:solidFill>
                  <a:srgbClr val="FF6B6B"/>
                </a:solidFill>
                <a:latin typeface="PingFang SC" panose="020B0400000000000000" charset="-122"/>
                <a:ea typeface="PingFang SC" panose="020B0400000000000000" charset="-122"/>
              </a:rPr>
              <a:t>●  </a:t>
            </a:r>
            <a:r>
              <a:rPr lang="zh-CN" altLang="en-US" sz="1700" noProof="1">
                <a:solidFill>
                  <a:srgbClr val="151B2B"/>
                </a:solidFill>
                <a:latin typeface="PingFang SC" panose="020B0400000000000000" charset="-122"/>
                <a:ea typeface="PingFang SC" panose="020B0400000000000000" charset="-122"/>
              </a:rPr>
              <a:t>AI 智能评分</a:t>
            </a:r>
            <a:endParaRPr lang="zh-CN" altLang="en-US" sz="1700" noProof="1">
              <a:solidFill>
                <a:srgbClr val="151B2B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lang="zh-CN" altLang="en-US" sz="1400" b="1" noProof="1">
                <a:solidFill>
                  <a:srgbClr val="FF6B6B"/>
                </a:solidFill>
                <a:latin typeface="PingFang SC" panose="020B0400000000000000" charset="-122"/>
                <a:ea typeface="PingFang SC" panose="020B0400000000000000" charset="-122"/>
              </a:rPr>
              <a:t>●  </a:t>
            </a:r>
            <a:r>
              <a:rPr lang="zh-CN" altLang="en-US" sz="1700" noProof="1">
                <a:solidFill>
                  <a:srgbClr val="151B2B"/>
                </a:solidFill>
                <a:latin typeface="PingFang SC" panose="020B0400000000000000" charset="-122"/>
                <a:ea typeface="PingFang SC" panose="020B0400000000000000" charset="-122"/>
              </a:rPr>
              <a:t>输出多维能力报告</a:t>
            </a:r>
            <a:endParaRPr lang="zh-CN" altLang="en-US" sz="1700" noProof="1">
              <a:solidFill>
                <a:srgbClr val="151B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370832" y="1691640"/>
            <a:ext cx="7315200" cy="4114800"/>
          </a:xfrm>
          <a:prstGeom prst="rect">
            <a:avLst/>
          </a:prstGeom>
          <a:solidFill>
            <a:srgbClr val="E8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andidate_mock_intervie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1600200"/>
            <a:ext cx="7315200" cy="411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97680" y="582472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1100" b="0" noProof="1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</a:rPr>
              <a:t>系统真实页面截图</a:t>
            </a:r>
            <a:endParaRPr lang="zh-CN" altLang="en-US" sz="1100" b="0" noProof="1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20624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500" b="1" noProof="1">
                <a:solidFill>
                  <a:srgbClr val="4ECDC4"/>
                </a:solidFill>
                <a:latin typeface="PingFang SC" panose="020B0400000000000000" charset="-122"/>
                <a:ea typeface="PingFang SC" panose="020B0400000000000000" charset="-122"/>
              </a:rPr>
              <a:t>B端 · HR 工作台</a:t>
            </a:r>
            <a:endParaRPr lang="zh-CN" altLang="en-US" sz="1500" b="1" noProof="1">
              <a:solidFill>
                <a:srgbClr val="4ECDC4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3400" b="1" noProof="1">
                <a:solidFill>
                  <a:srgbClr val="151B2B"/>
                </a:solidFill>
                <a:latin typeface="PingFang SC" panose="020B0400000000000000" charset="-122"/>
                <a:ea typeface="PingFang SC" panose="020B0400000000000000" charset="-122"/>
              </a:rPr>
              <a:t>数据看板</a:t>
            </a:r>
            <a:endParaRPr lang="zh-CN" altLang="en-US" sz="3400" b="1" noProof="1">
              <a:solidFill>
                <a:srgbClr val="151B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572768"/>
            <a:ext cx="457200" cy="4572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0" y="438912"/>
            <a:ext cx="1417320" cy="475488"/>
          </a:xfrm>
          <a:prstGeom prst="roundRect">
            <a:avLst>
              <a:gd name="adj" fmla="val 50000"/>
            </a:avLst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493776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1300" b="1" noProof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HR</a:t>
            </a:r>
            <a:endParaRPr lang="zh-CN" altLang="en-US" sz="1300" b="1" noProof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3383280" cy="38404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lang="zh-CN" altLang="en-US" sz="1400" b="1" noProof="1">
                <a:solidFill>
                  <a:srgbClr val="4ECDC4"/>
                </a:solidFill>
                <a:latin typeface="PingFang SC" panose="020B0400000000000000" charset="-122"/>
                <a:ea typeface="PingFang SC" panose="020B0400000000000000" charset="-122"/>
              </a:rPr>
              <a:t>●  </a:t>
            </a:r>
            <a:r>
              <a:rPr lang="zh-CN" altLang="en-US" sz="1700" noProof="1">
                <a:solidFill>
                  <a:srgbClr val="151B2B"/>
                </a:solidFill>
                <a:latin typeface="PingFang SC" panose="020B0400000000000000" charset="-122"/>
                <a:ea typeface="PingFang SC" panose="020B0400000000000000" charset="-122"/>
              </a:rPr>
              <a:t>核心招聘指标一屏掌握</a:t>
            </a:r>
            <a:endParaRPr lang="zh-CN" altLang="en-US" sz="1700" noProof="1">
              <a:solidFill>
                <a:srgbClr val="151B2B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lang="zh-CN" altLang="en-US" sz="1400" b="1" noProof="1">
                <a:solidFill>
                  <a:srgbClr val="4ECDC4"/>
                </a:solidFill>
                <a:latin typeface="PingFang SC" panose="020B0400000000000000" charset="-122"/>
                <a:ea typeface="PingFang SC" panose="020B0400000000000000" charset="-122"/>
              </a:rPr>
              <a:t>●  </a:t>
            </a:r>
            <a:r>
              <a:rPr lang="zh-CN" altLang="en-US" sz="1700" noProof="1">
                <a:solidFill>
                  <a:srgbClr val="151B2B"/>
                </a:solidFill>
                <a:latin typeface="PingFang SC" panose="020B0400000000000000" charset="-122"/>
                <a:ea typeface="PingFang SC" panose="020B0400000000000000" charset="-122"/>
              </a:rPr>
              <a:t>招聘漏斗展示转化效率</a:t>
            </a:r>
            <a:endParaRPr lang="zh-CN" altLang="en-US" sz="1700" noProof="1">
              <a:solidFill>
                <a:srgbClr val="151B2B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lang="zh-CN" altLang="en-US" sz="1400" b="1" noProof="1">
                <a:solidFill>
                  <a:srgbClr val="4ECDC4"/>
                </a:solidFill>
                <a:latin typeface="PingFang SC" panose="020B0400000000000000" charset="-122"/>
                <a:ea typeface="PingFang SC" panose="020B0400000000000000" charset="-122"/>
              </a:rPr>
              <a:t>●  </a:t>
            </a:r>
            <a:r>
              <a:rPr lang="zh-CN" altLang="en-US" sz="1700" noProof="1">
                <a:solidFill>
                  <a:srgbClr val="151B2B"/>
                </a:solidFill>
                <a:latin typeface="PingFang SC" panose="020B0400000000000000" charset="-122"/>
                <a:ea typeface="PingFang SC" panose="020B0400000000000000" charset="-122"/>
              </a:rPr>
              <a:t>待办事项清晰提醒</a:t>
            </a:r>
            <a:endParaRPr lang="zh-CN" altLang="en-US" sz="1700" noProof="1">
              <a:solidFill>
                <a:srgbClr val="151B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370832" y="1691640"/>
            <a:ext cx="7315200" cy="4114800"/>
          </a:xfrm>
          <a:prstGeom prst="rect">
            <a:avLst/>
          </a:prstGeom>
          <a:solidFill>
            <a:srgbClr val="E8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hr_dashboar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1600200"/>
            <a:ext cx="7315200" cy="411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97680" y="582472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1100" b="0" noProof="1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</a:rPr>
              <a:t>系统真实页面截图</a:t>
            </a:r>
            <a:endParaRPr lang="zh-CN" altLang="en-US" sz="1100" b="0" noProof="1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20624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500" b="1" noProof="1">
                <a:solidFill>
                  <a:srgbClr val="4ECDC4"/>
                </a:solidFill>
                <a:latin typeface="PingFang SC" panose="020B0400000000000000" charset="-122"/>
                <a:ea typeface="PingFang SC" panose="020B0400000000000000" charset="-122"/>
              </a:rPr>
              <a:t>B端 · HR 工作台</a:t>
            </a:r>
            <a:endParaRPr lang="zh-CN" altLang="en-US" sz="1500" b="1" noProof="1">
              <a:solidFill>
                <a:srgbClr val="4ECDC4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3400" b="1" noProof="1">
                <a:solidFill>
                  <a:srgbClr val="151B2B"/>
                </a:solidFill>
                <a:latin typeface="PingFang SC" panose="020B0400000000000000" charset="-122"/>
                <a:ea typeface="PingFang SC" panose="020B0400000000000000" charset="-122"/>
              </a:rPr>
              <a:t>人才库</a:t>
            </a:r>
            <a:endParaRPr lang="zh-CN" altLang="en-US" sz="3400" b="1" noProof="1">
              <a:solidFill>
                <a:srgbClr val="151B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572768"/>
            <a:ext cx="457200" cy="4572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0" y="438912"/>
            <a:ext cx="1417320" cy="475488"/>
          </a:xfrm>
          <a:prstGeom prst="roundRect">
            <a:avLst>
              <a:gd name="adj" fmla="val 50000"/>
            </a:avLst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493776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1300" b="1" noProof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HR</a:t>
            </a:r>
            <a:endParaRPr lang="zh-CN" altLang="en-US" sz="1300" b="1" noProof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3383280" cy="38404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lang="zh-CN" altLang="en-US" sz="1400" b="1" noProof="1">
                <a:solidFill>
                  <a:srgbClr val="4ECDC4"/>
                </a:solidFill>
                <a:latin typeface="PingFang SC" panose="020B0400000000000000" charset="-122"/>
                <a:ea typeface="PingFang SC" panose="020B0400000000000000" charset="-122"/>
              </a:rPr>
              <a:t>●  </a:t>
            </a:r>
            <a:r>
              <a:rPr lang="zh-CN" altLang="en-US" sz="1700" noProof="1">
                <a:solidFill>
                  <a:srgbClr val="151B2B"/>
                </a:solidFill>
                <a:latin typeface="PingFang SC" panose="020B0400000000000000" charset="-122"/>
                <a:ea typeface="PingFang SC" panose="020B0400000000000000" charset="-122"/>
              </a:rPr>
              <a:t>候选人投递统一管理</a:t>
            </a:r>
            <a:endParaRPr lang="zh-CN" altLang="en-US" sz="1700" noProof="1">
              <a:solidFill>
                <a:srgbClr val="151B2B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lang="zh-CN" altLang="en-US" sz="1400" b="1" noProof="1">
                <a:solidFill>
                  <a:srgbClr val="4ECDC4"/>
                </a:solidFill>
                <a:latin typeface="PingFang SC" panose="020B0400000000000000" charset="-122"/>
                <a:ea typeface="PingFang SC" panose="020B0400000000000000" charset="-122"/>
              </a:rPr>
              <a:t>●  </a:t>
            </a:r>
            <a:r>
              <a:rPr lang="zh-CN" altLang="en-US" sz="1700" noProof="1">
                <a:solidFill>
                  <a:srgbClr val="151B2B"/>
                </a:solidFill>
                <a:latin typeface="PingFang SC" panose="020B0400000000000000" charset="-122"/>
                <a:ea typeface="PingFang SC" panose="020B0400000000000000" charset="-122"/>
              </a:rPr>
              <a:t>Top5 智能推荐最佳候选人</a:t>
            </a:r>
            <a:endParaRPr lang="zh-CN" altLang="en-US" sz="1700" noProof="1">
              <a:solidFill>
                <a:srgbClr val="151B2B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lang="zh-CN" altLang="en-US" sz="1400" b="1" noProof="1">
                <a:solidFill>
                  <a:srgbClr val="4ECDC4"/>
                </a:solidFill>
                <a:latin typeface="PingFang SC" panose="020B0400000000000000" charset="-122"/>
                <a:ea typeface="PingFang SC" panose="020B0400000000000000" charset="-122"/>
              </a:rPr>
              <a:t>●  </a:t>
            </a:r>
            <a:r>
              <a:rPr lang="zh-CN" altLang="en-US" sz="1700" noProof="1">
                <a:solidFill>
                  <a:srgbClr val="151B2B"/>
                </a:solidFill>
                <a:latin typeface="PingFang SC" panose="020B0400000000000000" charset="-122"/>
                <a:ea typeface="PingFang SC" panose="020B0400000000000000" charset="-122"/>
              </a:rPr>
              <a:t>大幅缩短筛选时间</a:t>
            </a:r>
            <a:endParaRPr lang="zh-CN" altLang="en-US" sz="1700" noProof="1">
              <a:solidFill>
                <a:srgbClr val="151B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370832" y="1691640"/>
            <a:ext cx="7315200" cy="4114800"/>
          </a:xfrm>
          <a:prstGeom prst="rect">
            <a:avLst/>
          </a:prstGeom>
          <a:solidFill>
            <a:srgbClr val="E8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hr_candida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1600200"/>
            <a:ext cx="7315200" cy="411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97680" y="582472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1100" b="0" noProof="1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</a:rPr>
              <a:t>系统真实页面截图</a:t>
            </a:r>
            <a:endParaRPr lang="zh-CN" altLang="en-US" sz="1100" b="0" noProof="1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20624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500" b="1" noProof="1">
                <a:solidFill>
                  <a:srgbClr val="4ECDC4"/>
                </a:solidFill>
                <a:latin typeface="PingFang SC" panose="020B0400000000000000" charset="-122"/>
                <a:ea typeface="PingFang SC" panose="020B0400000000000000" charset="-122"/>
              </a:rPr>
              <a:t>B端 · HR 工作台</a:t>
            </a:r>
            <a:endParaRPr lang="zh-CN" altLang="en-US" sz="1500" b="1" noProof="1">
              <a:solidFill>
                <a:srgbClr val="4ECDC4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3400" b="1" noProof="1">
                <a:solidFill>
                  <a:srgbClr val="151B2B"/>
                </a:solidFill>
                <a:latin typeface="PingFang SC" panose="020B0400000000000000" charset="-122"/>
                <a:ea typeface="PingFang SC" panose="020B0400000000000000" charset="-122"/>
              </a:rPr>
              <a:t>面试协同</a:t>
            </a:r>
            <a:endParaRPr lang="zh-CN" altLang="en-US" sz="3400" b="1" noProof="1">
              <a:solidFill>
                <a:srgbClr val="151B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572768"/>
            <a:ext cx="457200" cy="4572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0" y="438912"/>
            <a:ext cx="1417320" cy="475488"/>
          </a:xfrm>
          <a:prstGeom prst="roundRect">
            <a:avLst>
              <a:gd name="adj" fmla="val 50000"/>
            </a:avLst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493776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1300" b="1" noProof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HR</a:t>
            </a:r>
            <a:endParaRPr lang="zh-CN" altLang="en-US" sz="1300" b="1" noProof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3383280" cy="38404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lang="zh-CN" altLang="en-US" sz="1400" b="1" noProof="1">
                <a:solidFill>
                  <a:srgbClr val="4ECDC4"/>
                </a:solidFill>
                <a:latin typeface="PingFang SC" panose="020B0400000000000000" charset="-122"/>
                <a:ea typeface="PingFang SC" panose="020B0400000000000000" charset="-122"/>
              </a:rPr>
              <a:t>●  </a:t>
            </a:r>
            <a:r>
              <a:rPr lang="zh-CN" altLang="en-US" sz="1700" noProof="1">
                <a:solidFill>
                  <a:srgbClr val="151B2B"/>
                </a:solidFill>
                <a:latin typeface="PingFang SC" panose="020B0400000000000000" charset="-122"/>
                <a:ea typeface="PingFang SC" panose="020B0400000000000000" charset="-122"/>
              </a:rPr>
              <a:t>一键创建面试并邀请面试官</a:t>
            </a:r>
            <a:endParaRPr lang="zh-CN" altLang="en-US" sz="1700" noProof="1">
              <a:solidFill>
                <a:srgbClr val="151B2B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lang="zh-CN" altLang="en-US" sz="1400" b="1" noProof="1">
                <a:solidFill>
                  <a:srgbClr val="4ECDC4"/>
                </a:solidFill>
                <a:latin typeface="PingFang SC" panose="020B0400000000000000" charset="-122"/>
                <a:ea typeface="PingFang SC" panose="020B0400000000000000" charset="-122"/>
              </a:rPr>
              <a:t>●  </a:t>
            </a:r>
            <a:r>
              <a:rPr lang="zh-CN" altLang="en-US" sz="1700" noProof="1">
                <a:solidFill>
                  <a:srgbClr val="151B2B"/>
                </a:solidFill>
                <a:latin typeface="PingFang SC" panose="020B0400000000000000" charset="-122"/>
                <a:ea typeface="PingFang SC" panose="020B0400000000000000" charset="-122"/>
              </a:rPr>
              <a:t>评估结果实时同步</a:t>
            </a:r>
            <a:endParaRPr lang="zh-CN" altLang="en-US" sz="1700" noProof="1">
              <a:solidFill>
                <a:srgbClr val="151B2B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lang="zh-CN" altLang="en-US" sz="1400" b="1" noProof="1">
                <a:solidFill>
                  <a:srgbClr val="4ECDC4"/>
                </a:solidFill>
                <a:latin typeface="PingFang SC" panose="020B0400000000000000" charset="-122"/>
                <a:ea typeface="PingFang SC" panose="020B0400000000000000" charset="-122"/>
              </a:rPr>
              <a:t>●  </a:t>
            </a:r>
            <a:r>
              <a:rPr lang="zh-CN" altLang="en-US" sz="1700" noProof="1">
                <a:solidFill>
                  <a:srgbClr val="151B2B"/>
                </a:solidFill>
                <a:latin typeface="PingFang SC" panose="020B0400000000000000" charset="-122"/>
                <a:ea typeface="PingFang SC" panose="020B0400000000000000" charset="-122"/>
              </a:rPr>
              <a:t>多人协作零延迟</a:t>
            </a:r>
            <a:endParaRPr lang="zh-CN" altLang="en-US" sz="1700" noProof="1">
              <a:solidFill>
                <a:srgbClr val="151B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370832" y="1691640"/>
            <a:ext cx="7315200" cy="4114800"/>
          </a:xfrm>
          <a:prstGeom prst="rect">
            <a:avLst/>
          </a:prstGeom>
          <a:solidFill>
            <a:srgbClr val="E8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hr_intervie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1600200"/>
            <a:ext cx="7315200" cy="411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97680" y="582472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1100" b="0" noProof="1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</a:rPr>
              <a:t>系统真实页面截图</a:t>
            </a:r>
            <a:endParaRPr lang="zh-CN" altLang="en-US" sz="1100" b="0" noProof="1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20624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500" b="1" noProof="1">
                <a:solidFill>
                  <a:srgbClr val="4ECDC4"/>
                </a:solidFill>
                <a:latin typeface="PingFang SC" panose="020B0400000000000000" charset="-122"/>
                <a:ea typeface="PingFang SC" panose="020B0400000000000000" charset="-122"/>
              </a:rPr>
              <a:t>B端 · HR 工作台</a:t>
            </a:r>
            <a:endParaRPr lang="zh-CN" altLang="en-US" sz="1500" b="1" noProof="1">
              <a:solidFill>
                <a:srgbClr val="4ECDC4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3400" b="1" noProof="1">
                <a:solidFill>
                  <a:srgbClr val="151B2B"/>
                </a:solidFill>
                <a:latin typeface="PingFang SC" panose="020B0400000000000000" charset="-122"/>
                <a:ea typeface="PingFang SC" panose="020B0400000000000000" charset="-122"/>
              </a:rPr>
              <a:t>Offer 管理</a:t>
            </a:r>
            <a:endParaRPr lang="zh-CN" altLang="en-US" sz="3400" b="1" noProof="1">
              <a:solidFill>
                <a:srgbClr val="151B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572768"/>
            <a:ext cx="457200" cy="4572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0" y="438912"/>
            <a:ext cx="1417320" cy="475488"/>
          </a:xfrm>
          <a:prstGeom prst="roundRect">
            <a:avLst>
              <a:gd name="adj" fmla="val 50000"/>
            </a:avLst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493776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1300" b="1" noProof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HR</a:t>
            </a:r>
            <a:endParaRPr lang="zh-CN" altLang="en-US" sz="1300" b="1" noProof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3383280" cy="38404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lang="zh-CN" altLang="en-US" sz="1400" b="1" noProof="1">
                <a:solidFill>
                  <a:srgbClr val="4ECDC4"/>
                </a:solidFill>
                <a:latin typeface="PingFang SC" panose="020B0400000000000000" charset="-122"/>
                <a:ea typeface="PingFang SC" panose="020B0400000000000000" charset="-122"/>
              </a:rPr>
              <a:t>●  </a:t>
            </a:r>
            <a:r>
              <a:rPr lang="zh-CN" altLang="en-US" sz="1700" noProof="1">
                <a:solidFill>
                  <a:srgbClr val="151B2B"/>
                </a:solidFill>
                <a:latin typeface="PingFang SC" panose="020B0400000000000000" charset="-122"/>
                <a:ea typeface="PingFang SC" panose="020B0400000000000000" charset="-122"/>
              </a:rPr>
              <a:t>在线生成并发送 Offer</a:t>
            </a:r>
            <a:endParaRPr lang="zh-CN" altLang="en-US" sz="1700" noProof="1">
              <a:solidFill>
                <a:srgbClr val="151B2B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lang="zh-CN" altLang="en-US" sz="1400" b="1" noProof="1">
                <a:solidFill>
                  <a:srgbClr val="4ECDC4"/>
                </a:solidFill>
                <a:latin typeface="PingFang SC" panose="020B0400000000000000" charset="-122"/>
                <a:ea typeface="PingFang SC" panose="020B0400000000000000" charset="-122"/>
              </a:rPr>
              <a:t>●  </a:t>
            </a:r>
            <a:r>
              <a:rPr lang="zh-CN" altLang="en-US" sz="1700" noProof="1">
                <a:solidFill>
                  <a:srgbClr val="151B2B"/>
                </a:solidFill>
                <a:latin typeface="PingFang SC" panose="020B0400000000000000" charset="-122"/>
                <a:ea typeface="PingFang SC" panose="020B0400000000000000" charset="-122"/>
              </a:rPr>
              <a:t>接受或拒绝实时反馈</a:t>
            </a:r>
            <a:endParaRPr lang="zh-CN" altLang="en-US" sz="1700" noProof="1">
              <a:solidFill>
                <a:srgbClr val="151B2B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lang="zh-CN" altLang="en-US" sz="1400" b="1" noProof="1">
                <a:solidFill>
                  <a:srgbClr val="4ECDC4"/>
                </a:solidFill>
                <a:latin typeface="PingFang SC" panose="020B0400000000000000" charset="-122"/>
                <a:ea typeface="PingFang SC" panose="020B0400000000000000" charset="-122"/>
              </a:rPr>
              <a:t>●  </a:t>
            </a:r>
            <a:r>
              <a:rPr lang="zh-CN" altLang="en-US" sz="1700" noProof="1">
                <a:solidFill>
                  <a:srgbClr val="151B2B"/>
                </a:solidFill>
                <a:latin typeface="PingFang SC" panose="020B0400000000000000" charset="-122"/>
                <a:ea typeface="PingFang SC" panose="020B0400000000000000" charset="-122"/>
              </a:rPr>
              <a:t>HC 占用与回退自动管控</a:t>
            </a:r>
            <a:endParaRPr lang="zh-CN" altLang="en-US" sz="1700" noProof="1">
              <a:solidFill>
                <a:srgbClr val="151B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370832" y="1691640"/>
            <a:ext cx="7315200" cy="4114800"/>
          </a:xfrm>
          <a:prstGeom prst="rect">
            <a:avLst/>
          </a:prstGeom>
          <a:solidFill>
            <a:srgbClr val="E8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hr_off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1600200"/>
            <a:ext cx="7315200" cy="411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97680" y="582472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1100" b="0" noProof="1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</a:rPr>
              <a:t>系统真实页面截图</a:t>
            </a:r>
            <a:endParaRPr lang="zh-CN" altLang="en-US" sz="1100" b="0" noProof="1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20624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500" b="1" noProof="1">
                <a:solidFill>
                  <a:srgbClr val="A855F7"/>
                </a:solidFill>
                <a:latin typeface="PingFang SC" panose="020B0400000000000000" charset="-122"/>
                <a:ea typeface="PingFang SC" panose="020B0400000000000000" charset="-122"/>
              </a:rPr>
              <a:t>A端 · 管理后台</a:t>
            </a:r>
            <a:endParaRPr lang="zh-CN" altLang="en-US" sz="1500" b="1" noProof="1">
              <a:solidFill>
                <a:srgbClr val="A855F7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3400" b="1" noProof="1">
                <a:solidFill>
                  <a:srgbClr val="151B2B"/>
                </a:solidFill>
                <a:latin typeface="PingFang SC" panose="020B0400000000000000" charset="-122"/>
                <a:ea typeface="PingFang SC" panose="020B0400000000000000" charset="-122"/>
              </a:rPr>
              <a:t>数据看板</a:t>
            </a:r>
            <a:endParaRPr lang="zh-CN" altLang="en-US" sz="3400" b="1" noProof="1">
              <a:solidFill>
                <a:srgbClr val="151B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572768"/>
            <a:ext cx="457200" cy="4572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0" y="438912"/>
            <a:ext cx="1417320" cy="475488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493776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1300" b="1" noProof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管理员</a:t>
            </a:r>
            <a:endParaRPr lang="zh-CN" altLang="en-US" sz="1300" b="1" noProof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3383280" cy="38404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lang="zh-CN" altLang="en-US" sz="1400" b="1" noProof="1">
                <a:solidFill>
                  <a:srgbClr val="A855F7"/>
                </a:solidFill>
                <a:latin typeface="PingFang SC" panose="020B0400000000000000" charset="-122"/>
                <a:ea typeface="PingFang SC" panose="020B0400000000000000" charset="-122"/>
              </a:rPr>
              <a:t>●  </a:t>
            </a:r>
            <a:r>
              <a:rPr lang="zh-CN" altLang="en-US" sz="1700" noProof="1">
                <a:solidFill>
                  <a:srgbClr val="151B2B"/>
                </a:solidFill>
                <a:latin typeface="PingFang SC" panose="020B0400000000000000" charset="-122"/>
                <a:ea typeface="PingFang SC" panose="020B0400000000000000" charset="-122"/>
              </a:rPr>
              <a:t>平台核心指标与趋势排行</a:t>
            </a:r>
            <a:endParaRPr lang="zh-CN" altLang="en-US" sz="1700" noProof="1">
              <a:solidFill>
                <a:srgbClr val="151B2B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lang="zh-CN" altLang="en-US" sz="1400" b="1" noProof="1">
                <a:solidFill>
                  <a:srgbClr val="A855F7"/>
                </a:solidFill>
                <a:latin typeface="PingFang SC" panose="020B0400000000000000" charset="-122"/>
                <a:ea typeface="PingFang SC" panose="020B0400000000000000" charset="-122"/>
              </a:rPr>
              <a:t>●  </a:t>
            </a:r>
            <a:r>
              <a:rPr lang="zh-CN" altLang="en-US" sz="1700" noProof="1">
                <a:solidFill>
                  <a:srgbClr val="151B2B"/>
                </a:solidFill>
                <a:latin typeface="PingFang SC" panose="020B0400000000000000" charset="-122"/>
                <a:ea typeface="PingFang SC" panose="020B0400000000000000" charset="-122"/>
              </a:rPr>
              <a:t>全平台运营情况一屏掌握</a:t>
            </a:r>
            <a:endParaRPr lang="zh-CN" altLang="en-US" sz="1700" noProof="1">
              <a:solidFill>
                <a:srgbClr val="151B2B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lang="zh-CN" altLang="en-US" sz="1400" b="1" noProof="1">
                <a:solidFill>
                  <a:srgbClr val="A855F7"/>
                </a:solidFill>
                <a:latin typeface="PingFang SC" panose="020B0400000000000000" charset="-122"/>
                <a:ea typeface="PingFang SC" panose="020B0400000000000000" charset="-122"/>
              </a:rPr>
              <a:t>●  </a:t>
            </a:r>
            <a:r>
              <a:rPr lang="zh-CN" altLang="en-US" sz="1700" noProof="1">
                <a:solidFill>
                  <a:srgbClr val="151B2B"/>
                </a:solidFill>
                <a:latin typeface="PingFang SC" panose="020B0400000000000000" charset="-122"/>
                <a:ea typeface="PingFang SC" panose="020B0400000000000000" charset="-122"/>
              </a:rPr>
              <a:t>为运营决策提供支撑</a:t>
            </a:r>
            <a:endParaRPr lang="zh-CN" altLang="en-US" sz="1700" noProof="1">
              <a:solidFill>
                <a:srgbClr val="151B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370832" y="1691640"/>
            <a:ext cx="7315200" cy="4114800"/>
          </a:xfrm>
          <a:prstGeom prst="rect">
            <a:avLst/>
          </a:prstGeom>
          <a:solidFill>
            <a:srgbClr val="E8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dmin_dashboar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1600200"/>
            <a:ext cx="7315200" cy="411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97680" y="582472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1100" b="0" noProof="1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</a:rPr>
              <a:t>系统真实页面截图</a:t>
            </a:r>
            <a:endParaRPr lang="zh-CN" altLang="en-US" sz="1100" b="0" noProof="1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20624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500" b="1" noProof="1">
                <a:solidFill>
                  <a:srgbClr val="A855F7"/>
                </a:solidFill>
                <a:latin typeface="PingFang SC" panose="020B0400000000000000" charset="-122"/>
                <a:ea typeface="PingFang SC" panose="020B0400000000000000" charset="-122"/>
              </a:rPr>
              <a:t>A端 · 管理后台</a:t>
            </a:r>
            <a:endParaRPr lang="zh-CN" altLang="en-US" sz="1500" b="1" noProof="1">
              <a:solidFill>
                <a:srgbClr val="A855F7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3400" b="1" noProof="1">
                <a:solidFill>
                  <a:srgbClr val="151B2B"/>
                </a:solidFill>
                <a:latin typeface="PingFang SC" panose="020B0400000000000000" charset="-122"/>
                <a:ea typeface="PingFang SC" panose="020B0400000000000000" charset="-122"/>
              </a:rPr>
              <a:t>企业认证审核</a:t>
            </a:r>
            <a:endParaRPr lang="zh-CN" altLang="en-US" sz="3400" b="1" noProof="1">
              <a:solidFill>
                <a:srgbClr val="151B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572768"/>
            <a:ext cx="457200" cy="4572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0" y="438912"/>
            <a:ext cx="1417320" cy="475488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493776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1300" b="1" noProof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管理员</a:t>
            </a:r>
            <a:endParaRPr lang="zh-CN" altLang="en-US" sz="1300" b="1" noProof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3383280" cy="38404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lang="zh-CN" altLang="en-US" sz="1400" b="1" noProof="1">
                <a:solidFill>
                  <a:srgbClr val="A855F7"/>
                </a:solidFill>
                <a:latin typeface="PingFang SC" panose="020B0400000000000000" charset="-122"/>
                <a:ea typeface="PingFang SC" panose="020B0400000000000000" charset="-122"/>
              </a:rPr>
              <a:t>●  </a:t>
            </a:r>
            <a:r>
              <a:rPr lang="zh-CN" altLang="en-US" sz="1700" noProof="1">
                <a:solidFill>
                  <a:srgbClr val="151B2B"/>
                </a:solidFill>
                <a:latin typeface="PingFang SC" panose="020B0400000000000000" charset="-122"/>
                <a:ea typeface="PingFang SC" panose="020B0400000000000000" charset="-122"/>
              </a:rPr>
              <a:t>企业认证申请集中审核</a:t>
            </a:r>
            <a:endParaRPr lang="zh-CN" altLang="en-US" sz="1700" noProof="1">
              <a:solidFill>
                <a:srgbClr val="151B2B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lang="zh-CN" altLang="en-US" sz="1400" b="1" noProof="1">
                <a:solidFill>
                  <a:srgbClr val="A855F7"/>
                </a:solidFill>
                <a:latin typeface="PingFang SC" panose="020B0400000000000000" charset="-122"/>
                <a:ea typeface="PingFang SC" panose="020B0400000000000000" charset="-122"/>
              </a:rPr>
              <a:t>●  </a:t>
            </a:r>
            <a:r>
              <a:rPr lang="zh-CN" altLang="en-US" sz="1700" noProof="1">
                <a:solidFill>
                  <a:srgbClr val="151B2B"/>
                </a:solidFill>
                <a:latin typeface="PingFang SC" panose="020B0400000000000000" charset="-122"/>
                <a:ea typeface="PingFang SC" panose="020B0400000000000000" charset="-122"/>
              </a:rPr>
              <a:t>通过 / 拒绝在线处理</a:t>
            </a:r>
            <a:endParaRPr lang="zh-CN" altLang="en-US" sz="1700" noProof="1">
              <a:solidFill>
                <a:srgbClr val="151B2B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lang="zh-CN" altLang="en-US" sz="1400" b="1" noProof="1">
                <a:solidFill>
                  <a:srgbClr val="A855F7"/>
                </a:solidFill>
                <a:latin typeface="PingFang SC" panose="020B0400000000000000" charset="-122"/>
                <a:ea typeface="PingFang SC" panose="020B0400000000000000" charset="-122"/>
              </a:rPr>
              <a:t>●  </a:t>
            </a:r>
            <a:r>
              <a:rPr lang="zh-CN" altLang="en-US" sz="1700" noProof="1">
                <a:solidFill>
                  <a:srgbClr val="151B2B"/>
                </a:solidFill>
                <a:latin typeface="PingFang SC" panose="020B0400000000000000" charset="-122"/>
                <a:ea typeface="PingFang SC" panose="020B0400000000000000" charset="-122"/>
              </a:rPr>
              <a:t>保障平台企业真实性</a:t>
            </a:r>
            <a:endParaRPr lang="zh-CN" altLang="en-US" sz="1700" noProof="1">
              <a:solidFill>
                <a:srgbClr val="151B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370832" y="1691640"/>
            <a:ext cx="7315200" cy="4114800"/>
          </a:xfrm>
          <a:prstGeom prst="rect">
            <a:avLst/>
          </a:prstGeom>
          <a:solidFill>
            <a:srgbClr val="E8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dmin_enterprise_audi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1600200"/>
            <a:ext cx="7315200" cy="411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97680" y="582472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1100" b="0" noProof="1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</a:rPr>
              <a:t>系统真实页面截图</a:t>
            </a:r>
            <a:endParaRPr lang="zh-CN" altLang="en-US" sz="1100" b="0" noProof="1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7_highlight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8_thank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1017</Words>
  <Application>WPS 文字</Application>
  <PresentationFormat>On-screen Show (4:3)</PresentationFormat>
  <Paragraphs>178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2" baseType="lpstr">
      <vt:lpstr>Arial</vt:lpstr>
      <vt:lpstr>宋体</vt:lpstr>
      <vt:lpstr>Wingdings</vt:lpstr>
      <vt:lpstr>Arial</vt:lpstr>
      <vt:lpstr>PingFang SC</vt:lpstr>
      <vt:lpstr>汉仪书宋二KW</vt:lpstr>
      <vt:lpstr>Calibri</vt:lpstr>
      <vt:lpstr>Helvetica Neue</vt:lpstr>
      <vt:lpstr>微软雅黑</vt:lpstr>
      <vt:lpstr>汉仪旗黑</vt:lpstr>
      <vt:lpstr>宋体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Demon</cp:lastModifiedBy>
  <cp:revision>3</cp:revision>
  <dcterms:created xsi:type="dcterms:W3CDTF">2026-08-18T06:43:17Z</dcterms:created>
  <dcterms:modified xsi:type="dcterms:W3CDTF">2026-08-18T06:43:17Z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B7BDF2872B99589B05FF836A8C48E62E_43</vt:lpwstr>
  </property>
  <property fmtid="{D5CDD505-2E9C-101B-9397-08002B2CF9AE}" pid="3" name="KSOProductBuildVer">
    <vt:lpwstr>2052-12.1.24031.24031</vt:lpwstr>
  </property>
</Properties>
</file>